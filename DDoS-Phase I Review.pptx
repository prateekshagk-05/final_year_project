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43" r:id="rId3"/>
    <p:sldId id="363" r:id="rId4"/>
    <p:sldId id="364" r:id="rId5"/>
    <p:sldId id="352" r:id="rId6"/>
    <p:sldId id="345" r:id="rId7"/>
    <p:sldId id="361" r:id="rId8"/>
    <p:sldId id="362" r:id="rId9"/>
    <p:sldId id="360" r:id="rId10"/>
    <p:sldId id="351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1BEC2-0D41-430F-BF53-BEBB1D9F8904}" v="1" dt="2026-06-24T14:28:20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83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xmlns="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xmlns="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xmlns="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xmlns="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xmlns="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xmlns="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xmlns="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xmlns="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xmlns="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xmlns="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xmlns="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xmlns="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xmlns="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xmlns="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xmlns="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e6ea673ec_0_6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ae6ea673ec_0_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ae6ea673ec_0_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1" y="13267"/>
            <a:ext cx="84445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xmlns="" id="{CA920FF5-84A3-D21C-3594-613A0A86852A}"/>
              </a:ext>
            </a:extLst>
          </p:cNvPr>
          <p:cNvSpPr txBox="1"/>
          <p:nvPr/>
        </p:nvSpPr>
        <p:spPr>
          <a:xfrm>
            <a:off x="1324947" y="2674600"/>
            <a:ext cx="7072604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JAYA AND XGBOOST BASED</a:t>
            </a:r>
          </a:p>
          <a:p>
            <a:pPr algn="ctr">
              <a:lnSpc>
                <a:spcPct val="115000"/>
              </a:lnSpc>
            </a:pPr>
            <a:r>
              <a:rPr lang="en-IN" sz="1800" b="1" dirty="0">
                <a:solidFill>
                  <a:schemeClr val="tx1"/>
                </a:solidFill>
              </a:rPr>
              <a:t>DDoS DETECTION FOR HAPS NETWORKS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3768FC-97D5-5421-58A1-35BC1107F6A5}"/>
              </a:ext>
            </a:extLst>
          </p:cNvPr>
          <p:cNvSpPr txBox="1"/>
          <p:nvPr/>
        </p:nvSpPr>
        <p:spPr>
          <a:xfrm>
            <a:off x="905070" y="4286177"/>
            <a:ext cx="3806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23CSR161 PRAJIT PRANAV K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23CSR163 PRANEESH C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23CSR165 PRATEEKSHA G 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1D8C992-19B2-6D63-7DC0-A2A6DE92A61C}"/>
              </a:ext>
            </a:extLst>
          </p:cNvPr>
          <p:cNvSpPr txBox="1"/>
          <p:nvPr/>
        </p:nvSpPr>
        <p:spPr>
          <a:xfrm>
            <a:off x="6245290" y="4761722"/>
            <a:ext cx="2814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Ms.NANTHIYA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xmlns="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0B9CF70-0D9A-4CE9-AD66-81529966C02A}"/>
              </a:ext>
            </a:extLst>
          </p:cNvPr>
          <p:cNvSpPr txBox="1"/>
          <p:nvPr/>
        </p:nvSpPr>
        <p:spPr>
          <a:xfrm>
            <a:off x="149911" y="7448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FB9E6F7-0BD0-3E73-B2BA-B362DBC1D785}"/>
              </a:ext>
            </a:extLst>
          </p:cNvPr>
          <p:cNvSpPr txBox="1"/>
          <p:nvPr/>
        </p:nvSpPr>
        <p:spPr>
          <a:xfrm>
            <a:off x="1164873" y="1259243"/>
            <a:ext cx="818585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Distributed Denial-of-Service (DDoS) attacks are among the most dangerous cyber threats.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Attackers flood networks with excessive traffic, making services unavailable.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systems face challenges in detecting attacks efficiently.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High-dimensional network traffic increases computational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Lack of explainable and optimized DDoS detection frameworks.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8EA98BE-A002-B319-7A9C-AD4A89EB3CDA}"/>
              </a:ext>
            </a:extLst>
          </p:cNvPr>
          <p:cNvSpPr txBox="1"/>
          <p:nvPr/>
        </p:nvSpPr>
        <p:spPr>
          <a:xfrm>
            <a:off x="686943" y="3260168"/>
            <a:ext cx="5536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xmlns="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91736A3-272E-3785-C1B4-194C643E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89" y="3620872"/>
            <a:ext cx="77724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 </a:t>
            </a:r>
            <a:r>
              <a:rPr lang="en-IN" dirty="0" err="1"/>
              <a:t>DDoS</a:t>
            </a:r>
            <a:r>
              <a:rPr lang="en-IN" dirty="0"/>
              <a:t> attacks accurately in HAPS networks.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unnecessary network features using Jaya.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classification accuracy using </a:t>
            </a:r>
            <a:r>
              <a:rPr lang="en-IN" dirty="0" err="1"/>
              <a:t>XGBoost</a:t>
            </a:r>
            <a:r>
              <a:rPr lang="en-IN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computational time and memory usage.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explainable predictions using SHAP.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Build a lightweight and efficient intrusion detection model. </a:t>
            </a:r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05263"/>
              </p:ext>
            </p:extLst>
          </p:nvPr>
        </p:nvGraphicFramePr>
        <p:xfrm>
          <a:off x="862640" y="1077824"/>
          <a:ext cx="7988061" cy="4899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>
                          <a:latin typeface="+mn-lt"/>
                        </a:rPr>
                        <a:t>Memory-Efficient Multi-Island Jaya Feature Selection for Large-Scale </a:t>
                      </a:r>
                      <a:r>
                        <a:rPr lang="en-IN" sz="1200" b="0" dirty="0" err="1">
                          <a:latin typeface="+mn-lt"/>
                        </a:rPr>
                        <a:t>DDoS</a:t>
                      </a:r>
                      <a:r>
                        <a:rPr lang="en-IN" sz="1200" b="0" dirty="0">
                          <a:latin typeface="+mn-lt"/>
                        </a:rPr>
                        <a:t> Attack Detection (IEEE 2026)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Uses CIC-DDoS2019 </a:t>
                      </a:r>
                      <a:r>
                        <a:rPr lang="en-IN" sz="1200" b="0" dirty="0" err="1"/>
                        <a:t>dataset.Jaya</a:t>
                      </a:r>
                      <a:r>
                        <a:rPr lang="en-IN" sz="1200" b="0" dirty="0"/>
                        <a:t>-based feature selection.H2O </a:t>
                      </a:r>
                      <a:r>
                        <a:rPr lang="en-IN" sz="1200" b="0" dirty="0" err="1"/>
                        <a:t>AutoML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classification.Detects</a:t>
                      </a:r>
                      <a:r>
                        <a:rPr lang="en-IN" sz="1200" b="0" dirty="0"/>
                        <a:t> multiple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 types.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High implementation </a:t>
                      </a:r>
                      <a:r>
                        <a:rPr lang="en-IN" sz="1200" b="0" dirty="0" err="1"/>
                        <a:t>complexity.No</a:t>
                      </a:r>
                      <a:r>
                        <a:rPr lang="en-IN" sz="1200" b="0" dirty="0"/>
                        <a:t> explainable AI </a:t>
                      </a:r>
                      <a:r>
                        <a:rPr lang="en-IN" sz="1200" b="0" dirty="0" err="1"/>
                        <a:t>component.AutoML</a:t>
                      </a:r>
                      <a:r>
                        <a:rPr lang="en-IN" sz="1200" b="0" dirty="0"/>
                        <a:t> increases computational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 err="1"/>
                        <a:t>Cybersecurity</a:t>
                      </a:r>
                      <a:r>
                        <a:rPr lang="en-IN" sz="1200" b="0" dirty="0"/>
                        <a:t> of High-Altitude Platform Stations: Threat Taxonomy, Attacks and </a:t>
                      </a:r>
                      <a:r>
                        <a:rPr lang="en-IN" sz="1200" b="0" dirty="0" err="1"/>
                        <a:t>Defenses</a:t>
                      </a:r>
                      <a:r>
                        <a:rPr lang="en-IN" sz="1200" b="0" dirty="0"/>
                        <a:t> With Standards Mapping—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 Use Case (IEEE 2026)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Study </a:t>
                      </a:r>
                      <a:r>
                        <a:rPr lang="en-IN" sz="1200" b="0" dirty="0" err="1"/>
                        <a:t>HAPS</a:t>
                      </a:r>
                      <a:r>
                        <a:rPr lang="en-IN" sz="1200" b="0" baseline="0" dirty="0" err="1"/>
                        <a:t>.</a:t>
                      </a:r>
                      <a:r>
                        <a:rPr lang="en-IN" sz="1200" b="0" dirty="0" err="1"/>
                        <a:t>Cybersecurity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threats.Identifies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as a major </a:t>
                      </a:r>
                      <a:r>
                        <a:rPr lang="en-IN" sz="1200" b="0" dirty="0" err="1"/>
                        <a:t>attack.Discusses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defense</a:t>
                      </a:r>
                      <a:r>
                        <a:rPr lang="en-IN" sz="1200" b="0" dirty="0"/>
                        <a:t> mechanisms.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Survey-based </a:t>
                      </a:r>
                      <a:r>
                        <a:rPr lang="en-IN" sz="1200" b="0" dirty="0" err="1"/>
                        <a:t>work.No</a:t>
                      </a:r>
                      <a:r>
                        <a:rPr lang="en-IN" sz="1200" b="0" dirty="0"/>
                        <a:t> machine learning </a:t>
                      </a:r>
                      <a:r>
                        <a:rPr lang="en-IN" sz="1200" b="0" dirty="0" err="1"/>
                        <a:t>framework.No</a:t>
                      </a:r>
                      <a:r>
                        <a:rPr lang="en-IN" sz="1200" b="0" dirty="0"/>
                        <a:t> attack detection model proposed.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Performance Analysis of Machine Learning Techniques for Server Health Monitoring Using Time Series Data Against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Attacks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(IEEE 2025)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dirty="0"/>
                        <a:t>ML-based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detection.</a:t>
                      </a:r>
                      <a:br>
                        <a:rPr lang="en-IN" sz="1200" b="0" dirty="0"/>
                      </a:br>
                      <a:r>
                        <a:rPr lang="en-IN" sz="1200" b="0" dirty="0"/>
                        <a:t>Server health monitoring.</a:t>
                      </a:r>
                      <a:br>
                        <a:rPr lang="en-IN" sz="1200" b="0" dirty="0"/>
                      </a:br>
                      <a:r>
                        <a:rPr lang="en-IN" sz="1200" b="0" dirty="0"/>
                        <a:t>Uses boosting algorithms.</a:t>
                      </a:r>
                    </a:p>
                    <a:p>
                      <a:pPr algn="l"/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Detect impact after server </a:t>
                      </a:r>
                      <a:r>
                        <a:rPr lang="en-IN" sz="1200" b="0" dirty="0" err="1"/>
                        <a:t>degradation.No</a:t>
                      </a:r>
                      <a:r>
                        <a:rPr lang="en-IN" sz="1200" b="0" dirty="0"/>
                        <a:t> feature optimization </a:t>
                      </a:r>
                      <a:r>
                        <a:rPr lang="en-IN" sz="1200" b="0" dirty="0" err="1"/>
                        <a:t>technique.No</a:t>
                      </a:r>
                      <a:r>
                        <a:rPr lang="en-IN" sz="1200" b="0" dirty="0"/>
                        <a:t> explainable AI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4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95507"/>
              </p:ext>
            </p:extLst>
          </p:nvPr>
        </p:nvGraphicFramePr>
        <p:xfrm>
          <a:off x="920151" y="1000185"/>
          <a:ext cx="7706265" cy="5098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755"/>
                <a:gridCol w="2568755"/>
                <a:gridCol w="2568755"/>
              </a:tblGrid>
              <a:tr h="3800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TITLE</a:t>
                      </a:r>
                      <a:endParaRPr lang="en-IN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SUMMARY</a:t>
                      </a:r>
                      <a:endParaRPr lang="en-IN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RESEARCH GAP</a:t>
                      </a:r>
                      <a:endParaRPr lang="en-US" sz="1200" b="1" dirty="0"/>
                    </a:p>
                  </a:txBody>
                  <a:tcPr anchor="ctr"/>
                </a:tc>
              </a:tr>
              <a:tr h="1707996">
                <a:tc>
                  <a:txBody>
                    <a:bodyPr/>
                    <a:lstStyle/>
                    <a:p>
                      <a:r>
                        <a:rPr lang="en-US" sz="1200" b="0" dirty="0"/>
                        <a:t>Classification and Explanation of Distributed Denial-of-Service (</a:t>
                      </a:r>
                      <a:r>
                        <a:rPr lang="en-US" sz="1200" b="0" dirty="0" err="1"/>
                        <a:t>DDoS</a:t>
                      </a:r>
                      <a:r>
                        <a:rPr lang="en-US" sz="1200" b="0" dirty="0"/>
                        <a:t>) Attack Detection using Machine Learning and Shapley Additive Explanation (SHAP)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Proposes an MLP-based DDoS detection framework that uses feature selection and SHAP to provide explainable attack predictions on the CIC-DDoS2019 dataset.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Uses MLP and SHAP-based feature importance instead of an optimization algorithm like Jaya, and is not designed specifically for HAPS networks.</a:t>
                      </a:r>
                    </a:p>
                  </a:txBody>
                  <a:tcPr anchor="ctr"/>
                </a:tc>
              </a:tr>
              <a:tr h="1505352">
                <a:tc>
                  <a:txBody>
                    <a:bodyPr/>
                    <a:lstStyle/>
                    <a:p>
                      <a:r>
                        <a:rPr lang="en-US" sz="1200" b="0" dirty="0"/>
                        <a:t>An Efficient Real Time </a:t>
                      </a:r>
                      <a:r>
                        <a:rPr lang="en-US" sz="1200" b="0" dirty="0" err="1"/>
                        <a:t>DDoS</a:t>
                      </a:r>
                      <a:r>
                        <a:rPr lang="en-US" sz="1200" b="0" dirty="0"/>
                        <a:t> Detection Model Using Machine Learning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Develops a real-time DDoS detection system using multiple ML classifiers with PCA-based feature selection and identifies XGBoost among the best-performing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Relies on PCA for feature selection and does not include Explainable AI (SHAP) or a Jaya-based optimization approach.</a:t>
                      </a:r>
                    </a:p>
                  </a:txBody>
                  <a:tcPr anchor="ctr"/>
                </a:tc>
              </a:tr>
              <a:tr h="1505352">
                <a:tc>
                  <a:txBody>
                    <a:bodyPr/>
                    <a:lstStyle/>
                    <a:p>
                      <a:r>
                        <a:rPr lang="en-US" sz="1200" b="0"/>
                        <a:t>Towards Efficient Machine Learning Method for IoT DDoS Attack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Introduces a hybrid feature selection algorithm with XGBoost and explains important features for IoT DDoS detection using feature importance.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Focuses on </a:t>
                      </a:r>
                      <a:r>
                        <a:rPr lang="en-US" sz="1200" b="0" dirty="0" err="1"/>
                        <a:t>IoT</a:t>
                      </a:r>
                      <a:r>
                        <a:rPr lang="en-US" sz="1200" b="0" dirty="0"/>
                        <a:t> environments with a custom hybrid feature selection method rather than Jaya optimization, and is not targeted at HAPS networks.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12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xmlns="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FF2AEB1-7170-6C3C-A575-749A72E74931}"/>
              </a:ext>
            </a:extLst>
          </p:cNvPr>
          <p:cNvSpPr txBox="1"/>
          <p:nvPr/>
        </p:nvSpPr>
        <p:spPr>
          <a:xfrm>
            <a:off x="2383790" y="10459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xmlns="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216325" y="1897812"/>
            <a:ext cx="756536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After studying previous research, the following gaps were identified: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methods focus mainly on improving classification accuracy.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High-dimensional features increase computational cost.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Limited use of feature optimization techniques.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methods do not explain why an attack is detected.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Few solutions are specifically designed for HAPS environments.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Need for a lightweight, explainable, and efficient detection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xmlns="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4657" y="626803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482" y="1130059"/>
            <a:ext cx="3451164" cy="54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8563" y="730320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4014" y="1431877"/>
            <a:ext cx="8212348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>
              <a:lnSpc>
                <a:spcPct val="150000"/>
              </a:lnSpc>
            </a:pPr>
            <a:r>
              <a:rPr lang="en-US" dirty="0"/>
              <a:t>	The proposed system combines feature optimization, machine learning, and explainable AI to improve </a:t>
            </a:r>
            <a:r>
              <a:rPr lang="en-US" dirty="0" err="1"/>
              <a:t>DDoS</a:t>
            </a:r>
            <a:r>
              <a:rPr lang="en-US" dirty="0"/>
              <a:t> detection.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1 – </a:t>
            </a:r>
            <a:r>
              <a:rPr lang="en-US" dirty="0"/>
              <a:t>Apply Preprocessing techniques to Preprocess the CIC-DDoS2019 dataset.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2 - </a:t>
            </a:r>
            <a:r>
              <a:rPr lang="en-US" dirty="0"/>
              <a:t>Preprocess the dataset by removing missing values and converting labels.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3 - </a:t>
            </a:r>
            <a:r>
              <a:rPr lang="en-US" dirty="0"/>
              <a:t>Apply </a:t>
            </a:r>
            <a:r>
              <a:rPr lang="en-US" b="1" dirty="0"/>
              <a:t>Jaya Algorithm</a:t>
            </a:r>
            <a:r>
              <a:rPr lang="en-US" dirty="0"/>
              <a:t> to select the most important network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4 - </a:t>
            </a:r>
            <a:r>
              <a:rPr lang="en-US" dirty="0"/>
              <a:t>Train an </a:t>
            </a:r>
            <a:r>
              <a:rPr lang="en-US" b="1" dirty="0" err="1"/>
              <a:t>XGBoost</a:t>
            </a:r>
            <a:r>
              <a:rPr lang="en-US" b="1" dirty="0"/>
              <a:t> classifier</a:t>
            </a:r>
            <a:r>
              <a:rPr lang="en-US" dirty="0"/>
              <a:t> using the selected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5 - </a:t>
            </a:r>
            <a:r>
              <a:rPr lang="en-US" dirty="0"/>
              <a:t>Predict whether the traffic is: (Normal/</a:t>
            </a:r>
            <a:r>
              <a:rPr lang="en-US" dirty="0" err="1"/>
              <a:t>DDoS</a:t>
            </a:r>
            <a:r>
              <a:rPr lang="en-US" dirty="0"/>
              <a:t> Attack)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6 - </a:t>
            </a:r>
            <a:r>
              <a:rPr lang="en-US" dirty="0"/>
              <a:t>Use </a:t>
            </a:r>
            <a:r>
              <a:rPr lang="en-US" b="1" dirty="0"/>
              <a:t>SHAP</a:t>
            </a:r>
            <a:r>
              <a:rPr lang="en-US" dirty="0"/>
              <a:t> to explain which features influenced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218361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4976" y="1788248"/>
            <a:ext cx="713404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Our project introduces several improvements over existing work: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Jaya for optimized feature selection.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Lightweight </a:t>
            </a:r>
            <a:r>
              <a:rPr lang="en-US" dirty="0" err="1"/>
              <a:t>XGBoost</a:t>
            </a:r>
            <a:r>
              <a:rPr lang="en-US" dirty="0"/>
              <a:t> classifier with reduced computational complexity.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SHAP-based explainable AI for transparent predictions.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Optimized specifically for HAPS network security.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Faster detection using fewer but more informative features.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scalability for future 5G/6G communication systems.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495" y="1370826"/>
            <a:ext cx="2577950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7116" y="2492188"/>
            <a:ext cx="1836555" cy="2031267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725" y="3543839"/>
            <a:ext cx="1311735" cy="7855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75" y="2778160"/>
            <a:ext cx="1403828" cy="4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71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xmlns="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1222" y="704441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4658" y="1699522"/>
            <a:ext cx="5002306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Data </a:t>
            </a:r>
            <a:r>
              <a:rPr lang="en-IN" dirty="0" err="1"/>
              <a:t>Preprocessing</a:t>
            </a:r>
            <a:r>
              <a:rPr lang="en-IN" dirty="0"/>
              <a:t>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Jaya Feature Selection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XGBoost</a:t>
            </a:r>
            <a:r>
              <a:rPr lang="en-IN" dirty="0"/>
              <a:t> Model Training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DDoS</a:t>
            </a:r>
            <a:r>
              <a:rPr lang="en-IN" dirty="0"/>
              <a:t> Attack Classification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Model Evaluation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SHAP </a:t>
            </a:r>
            <a:r>
              <a:rPr lang="en-IN" dirty="0" err="1"/>
              <a:t>Explainability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Result Visualization &amp; Deployment Module</a:t>
            </a: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xmlns="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20821</TotalTime>
  <Words>601</Words>
  <Application>Microsoft Office PowerPoint</Application>
  <PresentationFormat>On-screen Show (4:3)</PresentationFormat>
  <Paragraphs>88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Microsoft account</cp:lastModifiedBy>
  <cp:revision>234</cp:revision>
  <dcterms:created xsi:type="dcterms:W3CDTF">2005-07-08T09:37:10Z</dcterms:created>
  <dcterms:modified xsi:type="dcterms:W3CDTF">2026-07-31T18:12:40Z</dcterms:modified>
</cp:coreProperties>
</file>