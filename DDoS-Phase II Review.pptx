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43" r:id="rId3"/>
    <p:sldId id="363" r:id="rId4"/>
    <p:sldId id="364" r:id="rId5"/>
    <p:sldId id="352" r:id="rId6"/>
    <p:sldId id="345" r:id="rId7"/>
    <p:sldId id="361" r:id="rId8"/>
    <p:sldId id="362" r:id="rId9"/>
    <p:sldId id="360" r:id="rId10"/>
    <p:sldId id="366" r:id="rId11"/>
    <p:sldId id="351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jO0fsVscgIGoCaqTlxEt9hSbl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B3"/>
    <a:srgbClr val="285D88"/>
    <a:srgbClr val="86C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1BEC2-0D41-430F-BF53-BEBB1D9F8904}" v="1" dt="2026-06-24T14:28:20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1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124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368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5EA49C5-52B5-CD45-607E-470D2D7B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B3CB04E-F4AF-D76E-A236-03214AC0F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2E87FA7B-99DF-6E89-6849-77A5AD1A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47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5C515C-DA14-7D70-E40A-6530E507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48380B16-9BCF-27DE-CEB1-F8ECDC6E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D3DA7759-D444-F0A5-E73C-43FD89F07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1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0A54BF7-5F96-20B0-9226-BD98E250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1051D1A9-0418-DA21-E15D-645D1822A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95C74605-730D-4F11-C0E8-562E3AEA5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58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65B66B-9713-4C32-D985-A9421324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7919037-DA05-4612-DE79-ACAF103C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AD49DDDE-603F-CED4-808D-591A53A64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BBBE2D4-357E-482F-5189-90E051DD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A98B81FC-1F9E-E8E7-7E68-8672720DC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626CC156-D6D2-08F9-E46C-F88A7C7E5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5813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52884C1-EAFF-830F-DBCD-100BDBB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96F79C7E-D286-27AA-727F-AC84658F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EB5DCFB4-2FDF-3324-EE39-C03AE079A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4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e6ea673ec_0_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ae6ea673ec_0_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ae6ea673ec_0_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ae6ea673ec_0_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ae6ea673ec_0_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ae6ea673ec_0_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ae6ea673ec_0_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ae6ea673ec_0_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ae6ea673ec_0_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ae6ea673ec_0_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ae6ea673ec_0_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ae6ea673ec_0_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ae6ea673ec_0_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gae6ea673ec_0_2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gae6ea673ec_0_2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ae6ea673ec_0_2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ae6ea673ec_0_2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ae6ea673ec_0_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ae6ea673ec_0_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e6ea673ec_0_3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ae6ea673ec_0_3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ae6ea673ec_0_3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ae6ea673ec_0_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ae6ea673ec_0_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ae6ea673ec_0_44"/>
          <p:cNvSpPr/>
          <p:nvPr/>
        </p:nvSpPr>
        <p:spPr>
          <a:xfrm rot="-10379968" flipH="1">
            <a:off x="3165539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ae6ea673ec_0_44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ae6ea673ec_0_4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ae6ea673ec_0_4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ae6ea673ec_0_4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ae6ea673ec_0_4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gae6ea673ec_0_44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ae6ea673ec_0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ae6ea673ec_0_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e6ea673ec_0_5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ae6ea673ec_0_54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gae6ea673ec_0_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ae6ea673ec_0_5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e6ea673ec_0_59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ae6ea673ec_0_59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ae6ea673ec_0_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ae6ea673ec_0_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e6ea673ec_0_6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ae6ea673ec_0_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ae6ea673ec_0_6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e6ea673ec_0_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gae6ea673ec_0_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ae6ea673ec_0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83266642_Towards_Efficient_Machine_Learning_Method_for_IoT_DDoS_Attack_Detection" TargetMode="External"/><Relationship Id="rId3" Type="http://schemas.openxmlformats.org/officeDocument/2006/relationships/hyperlink" Target="https://ieeexplore.ieee.org/document/11372118" TargetMode="External"/><Relationship Id="rId7" Type="http://schemas.openxmlformats.org/officeDocument/2006/relationships/hyperlink" Target="https://www.researchgate.net/publication/371988685_Classification_and_Explanation_of_Distributed_Denial-of-Service_DDoS_Attack_Detection_using_Machine_Learning_and_Shapley_Additive_Explanation_SHAP_Method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501.14311" TargetMode="External"/><Relationship Id="rId5" Type="http://schemas.openxmlformats.org/officeDocument/2006/relationships/hyperlink" Target="https://ieeexplore.ieee.org/abstract/document/10937115" TargetMode="External"/><Relationship Id="rId4" Type="http://schemas.openxmlformats.org/officeDocument/2006/relationships/hyperlink" Target="https://ieeexplore.ieee.org/document/11321197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71" y="13267"/>
            <a:ext cx="8444525" cy="13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695" y="6040503"/>
            <a:ext cx="142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32137" y="1738435"/>
            <a:ext cx="798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22CSP72 – PROJECT WORK II PHASE II</a:t>
            </a:r>
            <a:endParaRPr sz="2800" dirty="0"/>
          </a:p>
        </p:txBody>
      </p:sp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CA920FF5-84A3-D21C-3594-613A0A86852A}"/>
              </a:ext>
            </a:extLst>
          </p:cNvPr>
          <p:cNvSpPr txBox="1"/>
          <p:nvPr/>
        </p:nvSpPr>
        <p:spPr>
          <a:xfrm>
            <a:off x="1324947" y="2674600"/>
            <a:ext cx="7072604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1800" b="1" dirty="0"/>
              <a:t>JAYA AND XGBOOST BASED</a:t>
            </a:r>
          </a:p>
          <a:p>
            <a:pPr algn="ctr">
              <a:lnSpc>
                <a:spcPct val="115000"/>
              </a:lnSpc>
            </a:pPr>
            <a:r>
              <a:rPr lang="en-IN" sz="1800" b="1" dirty="0">
                <a:solidFill>
                  <a:schemeClr val="tx1"/>
                </a:solidFill>
              </a:rPr>
              <a:t>DDoS DETECTION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768FC-97D5-5421-58A1-35BC1107F6A5}"/>
              </a:ext>
            </a:extLst>
          </p:cNvPr>
          <p:cNvSpPr txBox="1"/>
          <p:nvPr/>
        </p:nvSpPr>
        <p:spPr>
          <a:xfrm>
            <a:off x="905070" y="4286177"/>
            <a:ext cx="3806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DONE BY,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23CSR161 PRAJIT PRANAV K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23CSR163 PRANEESH C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23CSR165 PRATEEKSHA G 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8C992-19B2-6D63-7DC0-A2A6DE92A61C}"/>
              </a:ext>
            </a:extLst>
          </p:cNvPr>
          <p:cNvSpPr txBox="1"/>
          <p:nvPr/>
        </p:nvSpPr>
        <p:spPr>
          <a:xfrm>
            <a:off x="6245290" y="4761722"/>
            <a:ext cx="281473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SUPERVISED BY,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Ms.D.NANTHIYA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19A232A-4F76-E247-BE7A-907643E6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9CF70-0D9A-4CE9-AD66-81529966C02A}"/>
              </a:ext>
            </a:extLst>
          </p:cNvPr>
          <p:cNvSpPr txBox="1"/>
          <p:nvPr/>
        </p:nvSpPr>
        <p:spPr>
          <a:xfrm>
            <a:off x="149911" y="7448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9E6F7-0BD0-3E73-B2BA-B362DBC1D785}"/>
              </a:ext>
            </a:extLst>
          </p:cNvPr>
          <p:cNvSpPr txBox="1"/>
          <p:nvPr/>
        </p:nvSpPr>
        <p:spPr>
          <a:xfrm>
            <a:off x="1164873" y="1259243"/>
            <a:ext cx="818585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Distributed Denial-of-Service (DDoS) attacks are among the most dangerous cyber threats.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Attackers flood networks with excessive traffic, making services unavailable.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systems face challenges in detecting attacks efficiently.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High-dimensional network traffic increases computational complexity.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Lack of explainable and optimized DDoS detection frameworks.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A98BE-A002-B319-7A9C-AD4A89EB3CDA}"/>
              </a:ext>
            </a:extLst>
          </p:cNvPr>
          <p:cNvSpPr txBox="1"/>
          <p:nvPr/>
        </p:nvSpPr>
        <p:spPr>
          <a:xfrm>
            <a:off x="686943" y="3260168"/>
            <a:ext cx="5536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07069F3E-5069-F03F-A939-A6A3F1C9DDFA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736A3-272E-3785-C1B4-194C643E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89" y="3620872"/>
            <a:ext cx="77724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Detect </a:t>
            </a:r>
            <a:r>
              <a:rPr lang="en-IN" dirty="0" err="1"/>
              <a:t>DDoS</a:t>
            </a:r>
            <a:r>
              <a:rPr lang="en-IN" dirty="0"/>
              <a:t> attacks accurately in HAPS networks.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unnecessary network features using Jaya.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classification accuracy using </a:t>
            </a:r>
            <a:r>
              <a:rPr lang="en-IN" dirty="0" err="1"/>
              <a:t>XGBoost</a:t>
            </a:r>
            <a:r>
              <a:rPr lang="en-IN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computational time and memory usage.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 explainable predictions using SHAP.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Build a lightweight and efficient intrusion detection model. </a:t>
            </a:r>
          </a:p>
        </p:txBody>
      </p:sp>
    </p:spTree>
    <p:extLst>
      <p:ext uri="{BB962C8B-B14F-4D97-AF65-F5344CB8AC3E}">
        <p14:creationId xmlns:p14="http://schemas.microsoft.com/office/powerpoint/2010/main" val="399140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105263"/>
              </p:ext>
            </p:extLst>
          </p:nvPr>
        </p:nvGraphicFramePr>
        <p:xfrm>
          <a:off x="862640" y="1077824"/>
          <a:ext cx="7988061" cy="4899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60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Paper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Summary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Research Gap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>
                          <a:latin typeface="+mn-lt"/>
                        </a:rPr>
                        <a:t>Memory-Efficient Multi-Island Jaya Feature Selection for Large-Scale </a:t>
                      </a:r>
                      <a:r>
                        <a:rPr lang="en-IN" sz="1200" b="0" dirty="0" err="1">
                          <a:latin typeface="+mn-lt"/>
                        </a:rPr>
                        <a:t>DDoS</a:t>
                      </a:r>
                      <a:r>
                        <a:rPr lang="en-IN" sz="1200" b="0" dirty="0">
                          <a:latin typeface="+mn-lt"/>
                        </a:rPr>
                        <a:t> Attack Detection (IEEE 2026)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b="0" dirty="0"/>
                        <a:t>Uses CIC-DDoS2019 </a:t>
                      </a:r>
                      <a:r>
                        <a:rPr lang="en-IN" sz="1200" b="0" dirty="0" err="1"/>
                        <a:t>dataset.Jaya</a:t>
                      </a:r>
                      <a:r>
                        <a:rPr lang="en-IN" sz="1200" b="0" dirty="0"/>
                        <a:t>-based feature selection.H2O </a:t>
                      </a:r>
                      <a:r>
                        <a:rPr lang="en-IN" sz="1200" b="0" dirty="0" err="1"/>
                        <a:t>AutoML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classification.Detects</a:t>
                      </a:r>
                      <a:r>
                        <a:rPr lang="en-IN" sz="1200" b="0" dirty="0"/>
                        <a:t> multiple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attack types.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High implementation </a:t>
                      </a:r>
                      <a:r>
                        <a:rPr lang="en-IN" sz="1200" b="0" dirty="0" err="1"/>
                        <a:t>complexity.No</a:t>
                      </a:r>
                      <a:r>
                        <a:rPr lang="en-IN" sz="1200" b="0" dirty="0"/>
                        <a:t> explainable AI </a:t>
                      </a:r>
                      <a:r>
                        <a:rPr lang="en-IN" sz="1200" b="0" dirty="0" err="1"/>
                        <a:t>component.AutoML</a:t>
                      </a:r>
                      <a:r>
                        <a:rPr lang="en-IN" sz="1200" b="0" dirty="0"/>
                        <a:t> increases computational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 err="1"/>
                        <a:t>Cybersecurity</a:t>
                      </a:r>
                      <a:r>
                        <a:rPr lang="en-IN" sz="1200" b="0" dirty="0"/>
                        <a:t> of High-Altitude Platform Stations: Threat Taxonomy, Attacks and </a:t>
                      </a:r>
                      <a:r>
                        <a:rPr lang="en-IN" sz="1200" b="0" dirty="0" err="1"/>
                        <a:t>Defenses</a:t>
                      </a:r>
                      <a:r>
                        <a:rPr lang="en-IN" sz="1200" b="0" dirty="0"/>
                        <a:t> With Standards Mapping—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Attack Use Case (IEEE 2026)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Study </a:t>
                      </a:r>
                      <a:r>
                        <a:rPr lang="en-IN" sz="1200" b="0" dirty="0" err="1"/>
                        <a:t>HAPS</a:t>
                      </a:r>
                      <a:r>
                        <a:rPr lang="en-IN" sz="1200" b="0" baseline="0" dirty="0" err="1"/>
                        <a:t>.</a:t>
                      </a:r>
                      <a:r>
                        <a:rPr lang="en-IN" sz="1200" b="0" dirty="0" err="1"/>
                        <a:t>Cybersecurity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threats.Identifies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as a major </a:t>
                      </a:r>
                      <a:r>
                        <a:rPr lang="en-IN" sz="1200" b="0" dirty="0" err="1"/>
                        <a:t>attack.Discusses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b="0" dirty="0" err="1"/>
                        <a:t>defense</a:t>
                      </a:r>
                      <a:r>
                        <a:rPr lang="en-IN" sz="1200" b="0" dirty="0"/>
                        <a:t> mechanisms.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Survey-based </a:t>
                      </a:r>
                      <a:r>
                        <a:rPr lang="en-IN" sz="1200" b="0" dirty="0" err="1"/>
                        <a:t>work.No</a:t>
                      </a:r>
                      <a:r>
                        <a:rPr lang="en-IN" sz="1200" b="0" dirty="0"/>
                        <a:t> machine learning </a:t>
                      </a:r>
                      <a:r>
                        <a:rPr lang="en-IN" sz="1200" b="0" dirty="0" err="1"/>
                        <a:t>framework.No</a:t>
                      </a:r>
                      <a:r>
                        <a:rPr lang="en-IN" sz="1200" b="0" dirty="0"/>
                        <a:t> attack detection model proposed.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Performance Analysis of Machine Learning Techniques for Server Health Monitoring Using Time Series Data Against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Attacks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(IEEE 2025)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dirty="0"/>
                        <a:t>ML-based </a:t>
                      </a:r>
                      <a:r>
                        <a:rPr lang="en-IN" sz="1200" b="0" dirty="0" err="1"/>
                        <a:t>DDoS</a:t>
                      </a:r>
                      <a:r>
                        <a:rPr lang="en-IN" sz="1200" b="0" dirty="0"/>
                        <a:t> detection.</a:t>
                      </a:r>
                      <a:br>
                        <a:rPr lang="en-IN" sz="1200" b="0" dirty="0"/>
                      </a:br>
                      <a:r>
                        <a:rPr lang="en-IN" sz="1200" b="0" dirty="0"/>
                        <a:t>Server health monitoring.</a:t>
                      </a:r>
                      <a:br>
                        <a:rPr lang="en-IN" sz="1200" b="0" dirty="0"/>
                      </a:br>
                      <a:r>
                        <a:rPr lang="en-IN" sz="1200" b="0" dirty="0"/>
                        <a:t>Uses boosting algorithms.</a:t>
                      </a:r>
                    </a:p>
                    <a:p>
                      <a:pPr algn="l"/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b="0" dirty="0"/>
                        <a:t>Detect impact after server </a:t>
                      </a:r>
                      <a:r>
                        <a:rPr lang="en-IN" sz="1200" b="0" dirty="0" err="1"/>
                        <a:t>degradation.No</a:t>
                      </a:r>
                      <a:r>
                        <a:rPr lang="en-IN" sz="1200" b="0" dirty="0"/>
                        <a:t> feature optimization </a:t>
                      </a:r>
                      <a:r>
                        <a:rPr lang="en-IN" sz="1200" b="0" dirty="0" err="1"/>
                        <a:t>technique.No</a:t>
                      </a:r>
                      <a:r>
                        <a:rPr lang="en-IN" sz="1200" b="0" dirty="0"/>
                        <a:t> explainable AI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4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95507"/>
              </p:ext>
            </p:extLst>
          </p:nvPr>
        </p:nvGraphicFramePr>
        <p:xfrm>
          <a:off x="920151" y="1000185"/>
          <a:ext cx="7706265" cy="5098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996">
                <a:tc>
                  <a:txBody>
                    <a:bodyPr/>
                    <a:lstStyle/>
                    <a:p>
                      <a:r>
                        <a:rPr lang="en-US" sz="1200" b="0" dirty="0"/>
                        <a:t>Classification and Explanation of Distributed Denial-of-Service (</a:t>
                      </a:r>
                      <a:r>
                        <a:rPr lang="en-US" sz="1200" b="0" dirty="0" err="1"/>
                        <a:t>DDoS</a:t>
                      </a:r>
                      <a:r>
                        <a:rPr lang="en-US" sz="1200" b="0" dirty="0"/>
                        <a:t>) Attack Detection using Machine Learning and Shapley Additive Explanation (SHAP)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Proposes an MLP-based DDoS detection framework that uses feature selection and SHAP to provide explainable attack predictions on the CIC-DDoS2019 dataset.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Uses MLP and SHAP-based feature importance instead of an optimization algorithm like Jaya, and is not designed specifically for HAPS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352">
                <a:tc>
                  <a:txBody>
                    <a:bodyPr/>
                    <a:lstStyle/>
                    <a:p>
                      <a:r>
                        <a:rPr lang="en-US" sz="1200" b="0" dirty="0"/>
                        <a:t>An Efficient Real Time </a:t>
                      </a:r>
                      <a:r>
                        <a:rPr lang="en-US" sz="1200" b="0" dirty="0" err="1"/>
                        <a:t>DDoS</a:t>
                      </a:r>
                      <a:r>
                        <a:rPr lang="en-US" sz="1200" b="0" dirty="0"/>
                        <a:t> Detection Model Using Machine Learning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Develops a real-time DDoS detection system using multiple ML classifiers with PCA-based feature selection and identifies XGBoost among the best-performing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Relies on PCA for feature selection and does not include Explainable AI (SHAP) or a Jaya-based optimization approach.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352">
                <a:tc>
                  <a:txBody>
                    <a:bodyPr/>
                    <a:lstStyle/>
                    <a:p>
                      <a:r>
                        <a:rPr lang="en-US" sz="1200" b="0"/>
                        <a:t>Towards Efficient Machine Learning Method for IoT DDoS Attack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Introduces a hybrid feature selection algorithm with XGBoost and explains important features for IoT DDoS detection using feature importance.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Focuses on </a:t>
                      </a:r>
                      <a:r>
                        <a:rPr lang="en-US" sz="1200" b="0" dirty="0" err="1"/>
                        <a:t>IoT</a:t>
                      </a:r>
                      <a:r>
                        <a:rPr lang="en-US" sz="1200" b="0" dirty="0"/>
                        <a:t> environments with a custom hybrid feature selection method rather than Jaya optimization, and is not targeted at HAPS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128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8619D78-FEF4-4449-2820-CA02B0FC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F2AEB1-7170-6C3C-A575-749A72E74931}"/>
              </a:ext>
            </a:extLst>
          </p:cNvPr>
          <p:cNvSpPr txBox="1"/>
          <p:nvPr/>
        </p:nvSpPr>
        <p:spPr>
          <a:xfrm>
            <a:off x="2383790" y="10459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37D041D5-E99C-0198-50EE-3086F8A4A046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216325" y="1897812"/>
            <a:ext cx="756536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After studying previous research, the following gaps were identified: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Existing methods focus mainly on improving classification accuracy.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High-dimensional features increase computational cost.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Limited use of feature optimization techniques.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methods do not explain why an attack is detected.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Few solutions are specifically designed for HAPS environments.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Need for a lightweight, explainable, and efficient detection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291298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A51E19D-0FA0-4C5B-45AF-D2EB9222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4657" y="626803"/>
            <a:ext cx="328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482" y="1130059"/>
            <a:ext cx="3451164" cy="542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98563" y="730320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4014" y="1431877"/>
            <a:ext cx="8212348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  <a:p>
            <a:pPr>
              <a:lnSpc>
                <a:spcPct val="150000"/>
              </a:lnSpc>
            </a:pPr>
            <a:r>
              <a:rPr lang="en-US" dirty="0"/>
              <a:t>	The proposed system combines feature optimization, machine learning, and explainable AI to improve </a:t>
            </a:r>
            <a:r>
              <a:rPr lang="en-US" dirty="0" err="1"/>
              <a:t>DDoS</a:t>
            </a:r>
            <a:r>
              <a:rPr lang="en-US" dirty="0"/>
              <a:t> detection.</a:t>
            </a:r>
          </a:p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1 – </a:t>
            </a:r>
            <a:r>
              <a:rPr lang="en-US" dirty="0"/>
              <a:t>Apply Preprocessing techniques to Preprocess the CIC-DDoS2019 dataset.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2 - </a:t>
            </a:r>
            <a:r>
              <a:rPr lang="en-US" dirty="0"/>
              <a:t>Preprocess the dataset by removing missing values and converting labels.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3 - </a:t>
            </a:r>
            <a:r>
              <a:rPr lang="en-US" dirty="0"/>
              <a:t>Apply </a:t>
            </a:r>
            <a:r>
              <a:rPr lang="en-US" b="1" dirty="0"/>
              <a:t>Jaya Algorithm</a:t>
            </a:r>
            <a:r>
              <a:rPr lang="en-US" dirty="0"/>
              <a:t> to select the most important network features.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4 - </a:t>
            </a:r>
            <a:r>
              <a:rPr lang="en-US" dirty="0"/>
              <a:t>Train an </a:t>
            </a:r>
            <a:r>
              <a:rPr lang="en-US" b="1" dirty="0" err="1"/>
              <a:t>XGBoost</a:t>
            </a:r>
            <a:r>
              <a:rPr lang="en-US" b="1" dirty="0"/>
              <a:t> classifier</a:t>
            </a:r>
            <a:r>
              <a:rPr lang="en-US" dirty="0"/>
              <a:t> using the selected features.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5 - </a:t>
            </a:r>
            <a:r>
              <a:rPr lang="en-US" dirty="0"/>
              <a:t>Predict whether the traffic is: (Normal/</a:t>
            </a:r>
            <a:r>
              <a:rPr lang="en-US" dirty="0" err="1"/>
              <a:t>DDoS</a:t>
            </a:r>
            <a:r>
              <a:rPr lang="en-US" dirty="0"/>
              <a:t> Attack)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6 - </a:t>
            </a:r>
            <a:r>
              <a:rPr lang="en-US" dirty="0"/>
              <a:t>Use </a:t>
            </a:r>
            <a:r>
              <a:rPr lang="en-US" b="1" dirty="0"/>
              <a:t>SHAP</a:t>
            </a:r>
            <a:r>
              <a:rPr lang="en-US" dirty="0"/>
              <a:t> to explain which features influenced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218361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04976" y="1788248"/>
            <a:ext cx="713404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Our project introduces several improvements over existing work: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Jaya for optimized feature selection.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Lightweight </a:t>
            </a:r>
            <a:r>
              <a:rPr lang="en-US" dirty="0" err="1"/>
              <a:t>XGBoost</a:t>
            </a:r>
            <a:r>
              <a:rPr lang="en-US" dirty="0"/>
              <a:t> classifier with reduced computational complexity.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SHAP-based explainable AI for transparent predictions.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Optimized specifically for HAPS network security.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Faster detection using fewer but more informative features. 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scalability for future 5G/6G communication systems.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495" y="1370826"/>
            <a:ext cx="2577950" cy="41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7116" y="2492188"/>
            <a:ext cx="1836555" cy="2031267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725" y="3543839"/>
            <a:ext cx="1311735" cy="7855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75" y="2778160"/>
            <a:ext cx="1403828" cy="47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71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CDF5C86-F2FD-ED47-A53C-370B8DDC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31222" y="704441"/>
            <a:ext cx="3409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64658" y="1699522"/>
            <a:ext cx="5002306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Data </a:t>
            </a:r>
            <a:r>
              <a:rPr lang="en-IN" dirty="0" err="1"/>
              <a:t>Preprocessing</a:t>
            </a:r>
            <a:r>
              <a:rPr lang="en-IN" dirty="0"/>
              <a:t>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Jaya Feature Selection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XGBoost</a:t>
            </a:r>
            <a:r>
              <a:rPr lang="en-IN" dirty="0"/>
              <a:t> Model Training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DDoS</a:t>
            </a:r>
            <a:r>
              <a:rPr lang="en-IN" dirty="0"/>
              <a:t> Attack Classification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Model Evaluation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SHAP </a:t>
            </a:r>
            <a:r>
              <a:rPr lang="en-IN" dirty="0" err="1"/>
              <a:t>Explainability</a:t>
            </a:r>
            <a:endParaRPr lang="en-IN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Result Visualization &amp; Deployment Module</a:t>
            </a:r>
          </a:p>
        </p:txBody>
      </p:sp>
    </p:spTree>
    <p:extLst>
      <p:ext uri="{BB962C8B-B14F-4D97-AF65-F5344CB8AC3E}">
        <p14:creationId xmlns:p14="http://schemas.microsoft.com/office/powerpoint/2010/main" val="316677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0433B1F-3BC4-2103-44E9-3643A150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6420C8-BFB5-BBBE-5EFC-9ABB250C85CE}"/>
              </a:ext>
            </a:extLst>
          </p:cNvPr>
          <p:cNvSpPr/>
          <p:nvPr/>
        </p:nvSpPr>
        <p:spPr>
          <a:xfrm>
            <a:off x="3578203" y="635430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F83B92-9437-7624-38E6-C46A656D5B84}"/>
              </a:ext>
            </a:extLst>
          </p:cNvPr>
          <p:cNvSpPr/>
          <p:nvPr/>
        </p:nvSpPr>
        <p:spPr>
          <a:xfrm>
            <a:off x="1079653" y="1199190"/>
            <a:ext cx="796083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Memory-Efficient Multi-Island Jaya Feature Selection for Large-Scale DDoS Attack Detection </a:t>
            </a:r>
          </a:p>
          <a:p>
            <a:r>
              <a:rPr lang="en-IN" dirty="0"/>
              <a:t>      </a:t>
            </a:r>
            <a:r>
              <a:rPr lang="en-IN" u="sng" dirty="0">
                <a:solidFill>
                  <a:srgbClr val="0D1DB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https://ieeexplore.ieee.org/document/11372118</a:t>
            </a:r>
            <a:endParaRPr lang="en-IN" dirty="0">
              <a:solidFill>
                <a:srgbClr val="0D1DB3"/>
              </a:solidFill>
            </a:endParaRPr>
          </a:p>
          <a:p>
            <a:r>
              <a:rPr lang="en-IN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Cybersecurity of High-Altitude Platform Stations: Threat Taxonomy, Attacks and </a:t>
            </a:r>
            <a:r>
              <a:rPr lang="en-IN" dirty="0" err="1"/>
              <a:t>Defenses</a:t>
            </a:r>
            <a:r>
              <a:rPr lang="en-IN" dirty="0"/>
              <a:t> With Standards Mapping—DDoS Attack Use Case (IEEE 2026)   </a:t>
            </a:r>
          </a:p>
          <a:p>
            <a:r>
              <a:rPr lang="en-IN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r>
              <a:rPr lang="en-IN" u="sng" dirty="0">
                <a:solidFill>
                  <a:srgbClr val="0D1DB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https://ieeexplore.ieee.org/document/11321197</a:t>
            </a:r>
            <a:endParaRPr lang="en-IN" dirty="0">
              <a:solidFill>
                <a:srgbClr val="0D1DB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Performance Analysis of Machine Learning Techniques for Server Health Monitoring Using Time Series Data Against DDoS Attacks </a:t>
            </a:r>
          </a:p>
          <a:p>
            <a:r>
              <a:rPr lang="en-IN" u="sng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r>
              <a:rPr lang="en-IN" u="sng" dirty="0">
                <a:solidFill>
                  <a:srgbClr val="0D1DB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https://ieeexplore.ieee.org/abstract/document/10937115</a:t>
            </a:r>
            <a:endParaRPr lang="en-IN" dirty="0">
              <a:solidFill>
                <a:srgbClr val="0D1DB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 Efficient Real Time DDoS Detection Model Using Machine Learning Algorithms</a:t>
            </a:r>
            <a:endParaRPr lang="en-IN" dirty="0"/>
          </a:p>
          <a:p>
            <a:r>
              <a:rPr lang="en-IN" u="sng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r>
              <a:rPr lang="en-IN" u="sng" dirty="0">
                <a:solidFill>
                  <a:srgbClr val="0D1DB3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https://arxiv.org/abs/2501.14311</a:t>
            </a:r>
            <a:endParaRPr lang="en-IN" dirty="0">
              <a:solidFill>
                <a:srgbClr val="0D1DB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Classification and Explanation of Distributed Denial-of-Service (DDoS) Attack Detection using Machine Learning and Shapley Additive Explanation (SHAP) Methods</a:t>
            </a:r>
            <a:endParaRPr lang="en-IN" dirty="0"/>
          </a:p>
          <a:p>
            <a:r>
              <a:rPr lang="en-IN" dirty="0"/>
              <a:t>     </a:t>
            </a:r>
            <a:r>
              <a:rPr lang="en-IN" u="sng" dirty="0">
                <a:solidFill>
                  <a:srgbClr val="0D1DB3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https://www.researchgate.net/publication/371988685_Classification_and_Explanation_of_</a:t>
            </a:r>
          </a:p>
          <a:p>
            <a:r>
              <a:rPr lang="en-IN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</a:t>
            </a:r>
            <a:r>
              <a:rPr lang="en-IN" u="sng" dirty="0">
                <a:solidFill>
                  <a:srgbClr val="0D1DB3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Distributed_Denial-of-Service_DDoS_Attack_Detection_using_Machine_Learning_and_</a:t>
            </a:r>
          </a:p>
          <a:p>
            <a:r>
              <a:rPr lang="en-IN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</a:t>
            </a:r>
            <a:r>
              <a:rPr lang="en-IN" u="sng" dirty="0" err="1">
                <a:solidFill>
                  <a:srgbClr val="0D1DB3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Shapley_Additive_Explanation_SHAP_Methods</a:t>
            </a:r>
            <a:endParaRPr lang="en-IN" dirty="0">
              <a:solidFill>
                <a:srgbClr val="0D1DB3"/>
              </a:solidFill>
            </a:endParaRPr>
          </a:p>
          <a:p>
            <a:pPr lvl="0"/>
            <a:r>
              <a:rPr lang="en-IN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Towards Efficient Machine Learning Method for IoT DDoS Attack Detection</a:t>
            </a:r>
            <a:endParaRPr lang="en-IN" dirty="0"/>
          </a:p>
          <a:p>
            <a:r>
              <a:rPr lang="en-IN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r>
              <a:rPr lang="en-IN" u="sng" dirty="0">
                <a:solidFill>
                  <a:srgbClr val="0D1DB3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https://www.researchgate.net/publication/383266642_Towards_Efficient_Machine_</a:t>
            </a:r>
          </a:p>
          <a:p>
            <a:r>
              <a:rPr lang="en-IN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r>
              <a:rPr lang="en-IN" u="sng" dirty="0" err="1">
                <a:solidFill>
                  <a:srgbClr val="0D1DB3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Learning_Method_for_IoT_DDoS_Attack_Detection</a:t>
            </a:r>
            <a:endParaRPr lang="en-IN" dirty="0">
              <a:solidFill>
                <a:srgbClr val="0D1D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47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733D17-BE26-4C23-A9FB-5030EA50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D3694-33C1-FF16-DAD7-ACA0770939EF}"/>
              </a:ext>
            </a:extLst>
          </p:cNvPr>
          <p:cNvSpPr txBox="1"/>
          <p:nvPr/>
        </p:nvSpPr>
        <p:spPr>
          <a:xfrm>
            <a:off x="2789853" y="3004457"/>
            <a:ext cx="454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54633741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20829</TotalTime>
  <Words>969</Words>
  <Application>Microsoft Office PowerPoint</Application>
  <PresentationFormat>On-screen Show (4:3)</PresentationFormat>
  <Paragraphs>109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Hughes</dc:creator>
  <cp:lastModifiedBy>Praneesh C</cp:lastModifiedBy>
  <cp:revision>237</cp:revision>
  <dcterms:created xsi:type="dcterms:W3CDTF">2005-07-08T09:37:10Z</dcterms:created>
  <dcterms:modified xsi:type="dcterms:W3CDTF">2026-09-11T15:09:05Z</dcterms:modified>
</cp:coreProperties>
</file>