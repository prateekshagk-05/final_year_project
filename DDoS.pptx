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343" r:id="rId3"/>
    <p:sldId id="352" r:id="rId4"/>
    <p:sldId id="356" r:id="rId5"/>
    <p:sldId id="345" r:id="rId6"/>
    <p:sldId id="357" r:id="rId7"/>
    <p:sldId id="358" r:id="rId8"/>
    <p:sldId id="359" r:id="rId9"/>
    <p:sldId id="360" r:id="rId10"/>
    <p:sldId id="351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8" roundtripDataSignature="AMtx7mjO0fsVscgIGoCaqTlxEt9hSblC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DB3"/>
    <a:srgbClr val="285D88"/>
    <a:srgbClr val="86C1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34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75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01240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3368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25EA49C5-52B5-CD45-607E-470D2D7B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EB3CB04E-F4AF-D76E-A236-03214AC0F4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2E87FA7B-99DF-6E89-6849-77A5AD1AA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247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CD5C515C-DA14-7D70-E40A-6530E5078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48380B16-9BCF-27DE-CEB1-F8ECDC6EC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D3DA7759-D444-F0A5-E73C-43FD89F075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715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354F991-74FB-CCE8-4F24-A6F94DF13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1F01E89D-3317-B870-39E0-7332A2CEEC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BA8AB4D7-0587-6BC2-E745-F93D320C02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6613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0A54BF7-5F96-20B0-9226-BD98E2501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1051D1A9-0418-DA21-E15D-645D1822A4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95C74605-730D-4F11-C0E8-562E3AEA53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4258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3C0FC98-19B3-581A-D0AF-1E7E2CB66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407FE199-A280-CF8E-15E0-75319FDA23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C60F036F-332E-FF98-A5AA-B9E0F1BFD2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6613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C9FB2475-CF04-4104-E0C4-C9550198C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86C55EE2-ED8D-5EC9-60E1-F3AA002D5E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CFCF19B2-DF01-44A3-186B-52D5D58725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4964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3CF9381-C761-191F-2548-0FCFC8528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25A1C320-EF37-471A-DB35-1EE8F93F83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D6FB06B5-6553-CEB6-48F5-4221E390F9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16529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4865B66B-9713-4C32-D985-A9421324B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E7919037-DA05-4612-DE79-ACAF103C0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AD49DDDE-603F-CED4-808D-591A53A646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78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52884C1-EAFF-830F-DBCD-100BDBB54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96F79C7E-D286-27AA-727F-AC84658FE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EB5DCFB4-2FDF-3324-EE39-C03AE079A1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5453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ae6ea673ec_0_4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gae6ea673ec_0_4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gae6ea673ec_0_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ae6ea673ec_0_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ae6ea673ec_0_9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ae6ea673ec_0_9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gae6ea673ec_0_9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ae6ea673ec_0_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ae6ea673ec_0_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ae6ea673ec_0_19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ae6ea673ec_0_19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gae6ea673ec_0_1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ae6ea673ec_0_2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gae6ea673ec_0_23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gae6ea673ec_0_23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ae6ea673ec_0_23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gae6ea673ec_0_23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gae6ea673ec_0_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ae6ea673ec_0_2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ae6ea673ec_0_38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gae6ea673ec_0_38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ae6ea673ec_0_38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ae6ea673ec_0_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ae6ea673ec_0_3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ae6ea673ec_0_44"/>
          <p:cNvSpPr/>
          <p:nvPr/>
        </p:nvSpPr>
        <p:spPr>
          <a:xfrm rot="-10379968" flipH="1">
            <a:off x="3165539" y="1108014"/>
            <a:ext cx="5257696" cy="4114887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1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ae6ea673ec_0_44"/>
          <p:cNvSpPr/>
          <p:nvPr/>
        </p:nvSpPr>
        <p:spPr>
          <a:xfrm rot="-10381539" flipH="1">
            <a:off x="8004149" y="5359289"/>
            <a:ext cx="155652" cy="155652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66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ae6ea673ec_0_44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ae6ea673ec_0_44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ae6ea673ec_0_44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ae6ea673ec_0_44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gae6ea673ec_0_44"/>
          <p:cNvSpPr>
            <a:spLocks noGrp="1"/>
          </p:cNvSpPr>
          <p:nvPr>
            <p:ph type="pic" idx="2"/>
          </p:nvPr>
        </p:nvSpPr>
        <p:spPr>
          <a:xfrm rot="420022">
            <a:off x="3485831" y="1199543"/>
            <a:ext cx="4617824" cy="3931997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gae6ea673ec_0_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ae6ea673ec_0_4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ae6ea673ec_0_5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ae6ea673ec_0_54"/>
          <p:cNvSpPr txBox="1">
            <a:spLocks noGrp="1"/>
          </p:cNvSpPr>
          <p:nvPr>
            <p:ph type="body" idx="1"/>
          </p:nvPr>
        </p:nvSpPr>
        <p:spPr>
          <a:xfrm rot="5400000">
            <a:off x="2377350" y="15013"/>
            <a:ext cx="43893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gae6ea673ec_0_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gae6ea673ec_0_5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ae6ea673ec_0_59"/>
          <p:cNvSpPr txBox="1">
            <a:spLocks noGrp="1"/>
          </p:cNvSpPr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gae6ea673ec_0_59"/>
          <p:cNvSpPr txBox="1">
            <a:spLocks noGrp="1"/>
          </p:cNvSpPr>
          <p:nvPr>
            <p:ph type="body" idx="1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ae6ea673ec_0_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ae6ea673ec_0_5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ae6ea673ec_0_6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gae6ea673ec_0_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ae6ea673ec_0_6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ae6ea673ec_0_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gae6ea673ec_0_0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ae6ea673ec_0_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datasets/dhoogla/cicddos2019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475" y="30519"/>
            <a:ext cx="8444525" cy="13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695" y="6040503"/>
            <a:ext cx="14287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732137" y="1738435"/>
            <a:ext cx="79860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800" b="1" dirty="0">
                <a:solidFill>
                  <a:srgbClr val="FF0000"/>
                </a:solidFill>
              </a:rPr>
              <a:t>22CSP72 – PROJECT WORK II PHASE I</a:t>
            </a:r>
            <a:endParaRPr sz="2800" dirty="0"/>
          </a:p>
        </p:txBody>
      </p:sp>
      <p:sp>
        <p:nvSpPr>
          <p:cNvPr id="2" name="Google Shape;91;p1">
            <a:extLst>
              <a:ext uri="{FF2B5EF4-FFF2-40B4-BE49-F238E27FC236}">
                <a16:creationId xmlns:a16="http://schemas.microsoft.com/office/drawing/2014/main" id="{CA920FF5-84A3-D21C-3594-613A0A86852A}"/>
              </a:ext>
            </a:extLst>
          </p:cNvPr>
          <p:cNvSpPr txBox="1"/>
          <p:nvPr/>
        </p:nvSpPr>
        <p:spPr>
          <a:xfrm>
            <a:off x="1324947" y="2674600"/>
            <a:ext cx="7072604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IN" sz="1800" b="1" dirty="0"/>
              <a:t>ADAPTIVE CHAOTIC JAYA AND XGBOOST BASED</a:t>
            </a:r>
          </a:p>
          <a:p>
            <a:pPr algn="ctr">
              <a:lnSpc>
                <a:spcPct val="115000"/>
              </a:lnSpc>
            </a:pPr>
            <a:r>
              <a:rPr lang="en-IN" sz="1800" b="1" dirty="0">
                <a:solidFill>
                  <a:schemeClr val="tx1"/>
                </a:solidFill>
              </a:rPr>
              <a:t>DDoS DETECTION FOR HAPS NETWORKS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768FC-97D5-5421-58A1-35BC1107F6A5}"/>
              </a:ext>
            </a:extLst>
          </p:cNvPr>
          <p:cNvSpPr txBox="1"/>
          <p:nvPr/>
        </p:nvSpPr>
        <p:spPr>
          <a:xfrm>
            <a:off x="905070" y="4338734"/>
            <a:ext cx="3806890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DONE BY,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23CSR165 PRATEEKSHA G K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23CSR161 PRAJIT PRANAV K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23CSR163 PRANEESH C</a:t>
            </a: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8C992-19B2-6D63-7DC0-A2A6DE92A61C}"/>
              </a:ext>
            </a:extLst>
          </p:cNvPr>
          <p:cNvSpPr txBox="1"/>
          <p:nvPr/>
        </p:nvSpPr>
        <p:spPr>
          <a:xfrm>
            <a:off x="6245290" y="4761722"/>
            <a:ext cx="2814734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SUPERVISED BY,</a:t>
            </a:r>
          </a:p>
          <a:p>
            <a:pPr>
              <a:lnSpc>
                <a:spcPct val="150000"/>
              </a:lnSpc>
            </a:pPr>
            <a:r>
              <a:rPr lang="en-US" sz="1800" dirty="0" err="1"/>
              <a:t>Ms.D.NANTHYA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F19A232A-4F76-E247-BE7A-907643E68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B9CF70-0D9A-4CE9-AD66-81529966C02A}"/>
              </a:ext>
            </a:extLst>
          </p:cNvPr>
          <p:cNvSpPr txBox="1"/>
          <p:nvPr/>
        </p:nvSpPr>
        <p:spPr>
          <a:xfrm>
            <a:off x="149911" y="74481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9E6F7-0BD0-3E73-B2BA-B362DBC1D785}"/>
              </a:ext>
            </a:extLst>
          </p:cNvPr>
          <p:cNvSpPr txBox="1"/>
          <p:nvPr/>
        </p:nvSpPr>
        <p:spPr>
          <a:xfrm>
            <a:off x="1164873" y="1259243"/>
            <a:ext cx="8185851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Distributed Denial-of-Service (DDoS) attacks are among the most dangerous cyber threats.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Attackers flood networks with excessive traffic, making services unavailable.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Existing systems face challenges in detecting attacks efficiently.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High-dimensional network traffic increases computational complexity.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Lack of explainable and optimized DDoS detection frameworks.</a:t>
            </a:r>
            <a:br>
              <a:rPr lang="en-IN" dirty="0"/>
            </a:br>
            <a:br>
              <a:rPr lang="en-IN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EA98BE-A002-B319-7A9C-AD4A89EB3CDA}"/>
              </a:ext>
            </a:extLst>
          </p:cNvPr>
          <p:cNvSpPr txBox="1"/>
          <p:nvPr/>
        </p:nvSpPr>
        <p:spPr>
          <a:xfrm>
            <a:off x="686943" y="3260168"/>
            <a:ext cx="55365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SIGNIFICANCE AND IMPACT 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07069F3E-5069-F03F-A939-A6A3F1C9DDFA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1736A3-272E-3785-C1B4-194C643E2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789" y="3802428"/>
            <a:ext cx="7772401" cy="1668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dirty="0"/>
              <a:t>DDoS attacks cause service outages and network disruption.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dirty="0"/>
              <a:t>Financial and operational losses for organizations.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dirty="0"/>
              <a:t>Damage to organizational reputation and loss of customer trust.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dirty="0"/>
              <a:t>Increased cybersecurity risks in 5G/6G communication systems.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dirty="0"/>
              <a:t>HAPS networks are vulnerable to traffic-based attacks.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400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8619D78-FEF4-4449-2820-CA02B0FCB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F2AEB1-7170-6C3C-A575-749A72E74931}"/>
              </a:ext>
            </a:extLst>
          </p:cNvPr>
          <p:cNvSpPr txBox="1"/>
          <p:nvPr/>
        </p:nvSpPr>
        <p:spPr>
          <a:xfrm>
            <a:off x="2383790" y="41621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 UNDERSTANDING</a:t>
            </a:r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37D041D5-E99C-0198-50EE-3086F8A4A046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CA83B-FB54-399E-B728-9B9BFA1B5637}"/>
              </a:ext>
            </a:extLst>
          </p:cNvPr>
          <p:cNvSpPr txBox="1"/>
          <p:nvPr/>
        </p:nvSpPr>
        <p:spPr>
          <a:xfrm>
            <a:off x="1968757" y="904719"/>
            <a:ext cx="6484778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800" b="1" dirty="0">
                <a:solidFill>
                  <a:srgbClr val="FF0000"/>
                </a:solidFill>
                <a:latin typeface="+mj-lt"/>
              </a:rPr>
              <a:t>Domain: Cybersecurity &amp; Network Intrusion Detection</a:t>
            </a:r>
          </a:p>
          <a:p>
            <a:pPr>
              <a:buNone/>
            </a:pPr>
            <a:endParaRPr lang="en-IN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777BF5-23B7-A750-4D75-406DEC168ACB}"/>
              </a:ext>
            </a:extLst>
          </p:cNvPr>
          <p:cNvSpPr txBox="1"/>
          <p:nvPr/>
        </p:nvSpPr>
        <p:spPr>
          <a:xfrm>
            <a:off x="877077" y="1747167"/>
            <a:ext cx="4572000" cy="3370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dirty="0"/>
              <a:t>• Cybersecurity protects networks from malicious activities.</a:t>
            </a:r>
            <a:br>
              <a:rPr lang="en-IN" sz="1600" dirty="0"/>
            </a:br>
            <a:r>
              <a:rPr lang="en-IN" sz="1600" dirty="0"/>
              <a:t>• DDoS attacks flood systems with fake traffic.</a:t>
            </a:r>
            <a:br>
              <a:rPr lang="en-IN" sz="1600" dirty="0"/>
            </a:br>
            <a:r>
              <a:rPr lang="en-IN" sz="1600" dirty="0"/>
              <a:t>• Machine Learning helps identify abnormal traffic patterns.</a:t>
            </a:r>
            <a:br>
              <a:rPr lang="en-IN" sz="1600" dirty="0"/>
            </a:br>
            <a:r>
              <a:rPr lang="en-IN" sz="1600" dirty="0"/>
              <a:t>• Feature selection reduces irrelevant network attributes.</a:t>
            </a:r>
            <a:br>
              <a:rPr lang="en-IN" sz="1600" dirty="0"/>
            </a:br>
            <a:r>
              <a:rPr lang="en-IN" sz="1600" dirty="0"/>
              <a:t>• Explainable AI improves trust in security decisions.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63E671-8634-3341-691C-F5CD269BB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013" y="2185705"/>
            <a:ext cx="3191069" cy="270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985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15EFB439-E690-F711-BFE3-5B7A923F2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4B5640-93B8-9015-0F6C-8812A056BFE7}"/>
              </a:ext>
            </a:extLst>
          </p:cNvPr>
          <p:cNvSpPr txBox="1"/>
          <p:nvPr/>
        </p:nvSpPr>
        <p:spPr>
          <a:xfrm>
            <a:off x="2286000" y="45790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ANALYSIS</a:t>
            </a:r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8363563E-797E-A624-FFA6-15E7B5A373C5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CFA813-76FD-903A-B82F-FF03CA7A4847}"/>
              </a:ext>
            </a:extLst>
          </p:cNvPr>
          <p:cNvSpPr txBox="1"/>
          <p:nvPr/>
        </p:nvSpPr>
        <p:spPr>
          <a:xfrm>
            <a:off x="877076" y="1036667"/>
            <a:ext cx="561703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FF0000"/>
                </a:solidFill>
                <a:latin typeface="+mj-lt"/>
              </a:rPr>
              <a:t>TECHNICAL FEASIBILITY</a:t>
            </a:r>
          </a:p>
          <a:p>
            <a:pPr>
              <a:buNone/>
            </a:pPr>
            <a:endParaRPr lang="en-IN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04668-3021-DF15-1DB4-3F5F2DE793DC}"/>
              </a:ext>
            </a:extLst>
          </p:cNvPr>
          <p:cNvSpPr txBox="1"/>
          <p:nvPr/>
        </p:nvSpPr>
        <p:spPr>
          <a:xfrm>
            <a:off x="877076" y="1514392"/>
            <a:ext cx="5103846" cy="11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dirty="0"/>
              <a:t>• Publicly available CIC-DDoS2019 dataset.</a:t>
            </a:r>
            <a:br>
              <a:rPr lang="en-IN" sz="1600" dirty="0"/>
            </a:br>
            <a:r>
              <a:rPr lang="en-IN" sz="1600" dirty="0"/>
              <a:t>• Open-source ML libraries available.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/>
              <a:t>• Well-documented algorithms like </a:t>
            </a:r>
            <a:r>
              <a:rPr lang="en-IN" sz="1600" dirty="0" err="1"/>
              <a:t>XGBoost</a:t>
            </a:r>
            <a:r>
              <a:rPr lang="en-IN" sz="1600" dirty="0"/>
              <a:t> and Jaya.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26910E-038A-A6AB-3846-E8D9AF7EA280}"/>
              </a:ext>
            </a:extLst>
          </p:cNvPr>
          <p:cNvSpPr txBox="1"/>
          <p:nvPr/>
        </p:nvSpPr>
        <p:spPr>
          <a:xfrm>
            <a:off x="877076" y="2808238"/>
            <a:ext cx="483325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FF0000"/>
                </a:solidFill>
                <a:latin typeface="+mj-lt"/>
              </a:rPr>
              <a:t>HARDWARE FEASIBILITY</a:t>
            </a:r>
          </a:p>
          <a:p>
            <a:pPr>
              <a:buNone/>
            </a:pPr>
            <a:endParaRPr lang="en-IN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E791BC-62F6-F39A-CF07-80E5EDA74EE9}"/>
              </a:ext>
            </a:extLst>
          </p:cNvPr>
          <p:cNvSpPr txBox="1"/>
          <p:nvPr/>
        </p:nvSpPr>
        <p:spPr>
          <a:xfrm>
            <a:off x="877076" y="3205396"/>
            <a:ext cx="5103846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dirty="0"/>
              <a:t>• No GPU requirement.</a:t>
            </a:r>
            <a:br>
              <a:rPr lang="en-IN" sz="1600" dirty="0"/>
            </a:br>
            <a:r>
              <a:rPr lang="en-IN" sz="1600" dirty="0"/>
              <a:t>• Standard CPU-based processing is adequate.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B47DD-7ECB-6A79-3564-8C8BA054A00A}"/>
              </a:ext>
            </a:extLst>
          </p:cNvPr>
          <p:cNvSpPr txBox="1"/>
          <p:nvPr/>
        </p:nvSpPr>
        <p:spPr>
          <a:xfrm>
            <a:off x="877076" y="4058705"/>
            <a:ext cx="4833258" cy="74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FF0000"/>
                </a:solidFill>
                <a:latin typeface="+mj-lt"/>
              </a:rPr>
              <a:t>IMPLEMENTATION FEASIBILITY</a:t>
            </a:r>
          </a:p>
          <a:p>
            <a:pPr>
              <a:lnSpc>
                <a:spcPct val="150000"/>
              </a:lnSpc>
              <a:buNone/>
            </a:pPr>
            <a:endParaRPr lang="en-IN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2E475-82CA-89AD-D317-A7B5CC77006D}"/>
              </a:ext>
            </a:extLst>
          </p:cNvPr>
          <p:cNvSpPr txBox="1"/>
          <p:nvPr/>
        </p:nvSpPr>
        <p:spPr>
          <a:xfrm>
            <a:off x="807097" y="4477559"/>
            <a:ext cx="7959013" cy="189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dirty="0"/>
              <a:t>• </a:t>
            </a:r>
            <a:r>
              <a:rPr lang="en-IN" sz="1600" dirty="0" err="1"/>
              <a:t>XGBoost</a:t>
            </a:r>
            <a:r>
              <a:rPr lang="en-IN" sz="1600" dirty="0"/>
              <a:t> is easy to implement.</a:t>
            </a:r>
            <a:br>
              <a:rPr lang="en-IN" sz="1600" dirty="0"/>
            </a:br>
            <a:r>
              <a:rPr lang="en-IN" sz="1600" dirty="0"/>
              <a:t>• Python libraries like Scikit-learn, Pandas, and NumPy are readily available.</a:t>
            </a:r>
            <a:br>
              <a:rPr lang="en-IN" sz="1600" dirty="0"/>
            </a:br>
            <a:r>
              <a:rPr lang="en-IN" sz="1600" dirty="0"/>
              <a:t>• Easy integration of feature selection and classification modules.</a:t>
            </a:r>
            <a:br>
              <a:rPr lang="en-IN" sz="1600" dirty="0"/>
            </a:br>
            <a:r>
              <a:rPr lang="en-IN" sz="1600" dirty="0"/>
              <a:t>• Availability of open-source tools reduces development cost.</a:t>
            </a:r>
            <a:br>
              <a:rPr lang="en-IN" sz="1600" dirty="0"/>
            </a:br>
            <a:r>
              <a:rPr lang="en-IN" sz="1600" dirty="0"/>
              <a:t>• SHAP library can be used for explainability without complex setup.</a:t>
            </a:r>
          </a:p>
        </p:txBody>
      </p:sp>
    </p:spTree>
    <p:extLst>
      <p:ext uri="{BB962C8B-B14F-4D97-AF65-F5344CB8AC3E}">
        <p14:creationId xmlns:p14="http://schemas.microsoft.com/office/powerpoint/2010/main" val="1966391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A51E19D-0FA0-4C5B-45AF-D2EB9222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EA9500-15CD-6660-D410-CC7E4D41C82F}"/>
              </a:ext>
            </a:extLst>
          </p:cNvPr>
          <p:cNvSpPr txBox="1"/>
          <p:nvPr/>
        </p:nvSpPr>
        <p:spPr>
          <a:xfrm>
            <a:off x="2844200" y="135847"/>
            <a:ext cx="403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86;p1">
            <a:extLst>
              <a:ext uri="{FF2B5EF4-FFF2-40B4-BE49-F238E27FC236}">
                <a16:creationId xmlns:a16="http://schemas.microsoft.com/office/drawing/2014/main" id="{752D2CCD-A977-3C21-8360-4E5408736FFE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8C8AE7-DCE4-840B-30EF-BFFA9EBFC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654" y="460392"/>
            <a:ext cx="7212563" cy="632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990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2AF9B45E-02C3-9FAB-2848-A82F02766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C929F5-6B36-CBFF-EEDC-B03679BC20B2}"/>
              </a:ext>
            </a:extLst>
          </p:cNvPr>
          <p:cNvSpPr txBox="1"/>
          <p:nvPr/>
        </p:nvSpPr>
        <p:spPr>
          <a:xfrm>
            <a:off x="1366933" y="929970"/>
            <a:ext cx="715658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PAPER-1</a:t>
            </a:r>
            <a:r>
              <a:rPr lang="en-IN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+mn-lt"/>
              </a:rPr>
              <a:t>Memory-Efficient Multi-Island Jaya Feature Selection for Large-Scale DDoS Attack Detection </a:t>
            </a:r>
            <a:r>
              <a:rPr lang="en-IN" sz="1800" b="1" dirty="0">
                <a:latin typeface="+mn-lt"/>
              </a:rPr>
              <a:t>(IEEE 2026)</a:t>
            </a:r>
            <a:endParaRPr lang="en-IN" sz="1800" b="1" dirty="0">
              <a:effectLst/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61CA9878-8886-F898-43F6-E1EB0982C994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A55A1E-7ADC-A5E9-EBFB-FEADBE5E7216}"/>
              </a:ext>
            </a:extLst>
          </p:cNvPr>
          <p:cNvSpPr txBox="1"/>
          <p:nvPr/>
        </p:nvSpPr>
        <p:spPr>
          <a:xfrm>
            <a:off x="1404255" y="1999583"/>
            <a:ext cx="5719667" cy="3739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rgbClr val="FF0000"/>
                </a:solidFill>
              </a:rPr>
              <a:t>CONTRIBUTION:</a:t>
            </a:r>
            <a:br>
              <a:rPr lang="en-IN" sz="1600" dirty="0"/>
            </a:br>
            <a:r>
              <a:rPr lang="en-IN" sz="1600" dirty="0"/>
              <a:t>• Uses CIC-DDoS2019 dataset.</a:t>
            </a:r>
            <a:br>
              <a:rPr lang="en-IN" sz="1600" dirty="0"/>
            </a:br>
            <a:r>
              <a:rPr lang="en-IN" sz="1600" dirty="0"/>
              <a:t>• Jaya-based feature selection.</a:t>
            </a:r>
            <a:br>
              <a:rPr lang="en-IN" sz="1600" dirty="0"/>
            </a:br>
            <a:r>
              <a:rPr lang="en-IN" sz="1600" dirty="0"/>
              <a:t>• H2O </a:t>
            </a:r>
            <a:r>
              <a:rPr lang="en-IN" sz="1600" dirty="0" err="1"/>
              <a:t>AutoML</a:t>
            </a:r>
            <a:r>
              <a:rPr lang="en-IN" sz="1600" dirty="0"/>
              <a:t> classification.</a:t>
            </a:r>
            <a:br>
              <a:rPr lang="en-IN" sz="1600" dirty="0"/>
            </a:br>
            <a:r>
              <a:rPr lang="en-IN" sz="1600" dirty="0"/>
              <a:t>• Detects multiple DDoS attack types.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rgbClr val="FF0000"/>
                </a:solidFill>
              </a:rPr>
              <a:t>LIMITATION:</a:t>
            </a:r>
            <a:br>
              <a:rPr lang="en-IN" sz="1600" dirty="0"/>
            </a:br>
            <a:r>
              <a:rPr lang="en-IN" sz="1600" dirty="0"/>
              <a:t>• High implementation complexity.</a:t>
            </a:r>
            <a:br>
              <a:rPr lang="en-IN" sz="1600" dirty="0"/>
            </a:br>
            <a:r>
              <a:rPr lang="en-IN" sz="1600" dirty="0"/>
              <a:t>• No explainable AI component.</a:t>
            </a:r>
            <a:br>
              <a:rPr lang="en-IN" sz="1600" dirty="0"/>
            </a:br>
            <a:r>
              <a:rPr lang="en-IN" sz="1600" dirty="0"/>
              <a:t>• </a:t>
            </a:r>
            <a:r>
              <a:rPr lang="en-IN" sz="1600" dirty="0" err="1"/>
              <a:t>AutoML</a:t>
            </a:r>
            <a:r>
              <a:rPr lang="en-IN" sz="1600" dirty="0"/>
              <a:t> increases computational overhead.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8F08D4-7E08-99E6-D4AC-535345A9C5A9}"/>
              </a:ext>
            </a:extLst>
          </p:cNvPr>
          <p:cNvSpPr txBox="1"/>
          <p:nvPr/>
        </p:nvSpPr>
        <p:spPr>
          <a:xfrm>
            <a:off x="2704240" y="332281"/>
            <a:ext cx="403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324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89E47013-A156-9B9A-A2E2-D5DE320C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637FA3-AAD2-DD8D-6F19-D26A51EA15FF}"/>
              </a:ext>
            </a:extLst>
          </p:cNvPr>
          <p:cNvSpPr txBox="1"/>
          <p:nvPr/>
        </p:nvSpPr>
        <p:spPr>
          <a:xfrm>
            <a:off x="947055" y="584737"/>
            <a:ext cx="7907696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PAPER-2 </a:t>
            </a:r>
            <a:r>
              <a:rPr lang="en-IN" sz="1800" dirty="0"/>
              <a:t>Cybersecurity of High-Altitude Platform Stations: Threat Taxonomy, Attacks and </a:t>
            </a:r>
            <a:r>
              <a:rPr lang="en-IN" sz="1800" dirty="0" err="1"/>
              <a:t>Defenses</a:t>
            </a:r>
            <a:r>
              <a:rPr lang="en-IN" sz="1800" dirty="0"/>
              <a:t> With Standards Mapping—DDoS Attack Use Case </a:t>
            </a:r>
            <a:r>
              <a:rPr lang="en-IN" sz="1800" b="1" dirty="0"/>
              <a:t>(IEEE 2026)</a:t>
            </a:r>
            <a:endParaRPr lang="en-IN" sz="1800" b="1" dirty="0">
              <a:effectLst/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0F6E2D5B-B473-6AFD-5EAE-8DB82F66DE32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8A46D-FF10-25DA-7292-98D01ED10952}"/>
              </a:ext>
            </a:extLst>
          </p:cNvPr>
          <p:cNvSpPr txBox="1"/>
          <p:nvPr/>
        </p:nvSpPr>
        <p:spPr>
          <a:xfrm>
            <a:off x="1301618" y="2200476"/>
            <a:ext cx="5719667" cy="3370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rgbClr val="FF0000"/>
                </a:solidFill>
              </a:rPr>
              <a:t>CONTRIBUTION:</a:t>
            </a:r>
            <a:br>
              <a:rPr lang="en-IN" sz="1600" dirty="0"/>
            </a:br>
            <a:r>
              <a:rPr lang="en-IN" sz="1600" dirty="0"/>
              <a:t>• Studies HAPS cybersecurity threats.</a:t>
            </a:r>
            <a:br>
              <a:rPr lang="en-IN" sz="1600" dirty="0"/>
            </a:br>
            <a:r>
              <a:rPr lang="en-IN" sz="1600" dirty="0"/>
              <a:t>• Identifies DDoS as a major attack.</a:t>
            </a:r>
            <a:br>
              <a:rPr lang="en-IN" sz="1600" dirty="0"/>
            </a:br>
            <a:r>
              <a:rPr lang="en-IN" sz="1600" dirty="0"/>
              <a:t>• Discusses </a:t>
            </a:r>
            <a:r>
              <a:rPr lang="en-IN" sz="1600" dirty="0" err="1"/>
              <a:t>defense</a:t>
            </a:r>
            <a:r>
              <a:rPr lang="en-IN" sz="1600" dirty="0"/>
              <a:t> mechanisms.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rgbClr val="FF0000"/>
                </a:solidFill>
              </a:rPr>
              <a:t>LIMITATION:</a:t>
            </a:r>
            <a:br>
              <a:rPr lang="en-IN" sz="1600" dirty="0"/>
            </a:br>
            <a:r>
              <a:rPr lang="en-IN" sz="1600" dirty="0"/>
              <a:t>• Survey-based work.</a:t>
            </a:r>
            <a:br>
              <a:rPr lang="en-IN" sz="1600" dirty="0"/>
            </a:br>
            <a:r>
              <a:rPr lang="en-IN" sz="1600" dirty="0"/>
              <a:t>• No machine learning framework.</a:t>
            </a:r>
            <a:br>
              <a:rPr lang="en-IN" sz="1600" dirty="0"/>
            </a:br>
            <a:r>
              <a:rPr lang="en-IN" sz="1600" dirty="0"/>
              <a:t>• No attack detection model proposed.</a:t>
            </a:r>
          </a:p>
        </p:txBody>
      </p:sp>
    </p:spTree>
    <p:extLst>
      <p:ext uri="{BB962C8B-B14F-4D97-AF65-F5344CB8AC3E}">
        <p14:creationId xmlns:p14="http://schemas.microsoft.com/office/powerpoint/2010/main" val="2904664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8A100E44-CA14-B990-F70B-65971E3B1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A21F9C-F933-BBDC-3E74-7D4EAC7CF538}"/>
              </a:ext>
            </a:extLst>
          </p:cNvPr>
          <p:cNvSpPr txBox="1"/>
          <p:nvPr/>
        </p:nvSpPr>
        <p:spPr>
          <a:xfrm>
            <a:off x="956386" y="640721"/>
            <a:ext cx="7907696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PAPER-3 </a:t>
            </a:r>
            <a:r>
              <a:rPr lang="en-IN" sz="1800" dirty="0"/>
              <a:t>Performance Analysis of Machine Learning Techniques for Server Health Monitoring Using Time Series Data Against DDoS Attacks </a:t>
            </a:r>
          </a:p>
          <a:p>
            <a:pPr algn="ctr">
              <a:lnSpc>
                <a:spcPct val="150000"/>
              </a:lnSpc>
            </a:pPr>
            <a:r>
              <a:rPr lang="en-IN" sz="1800" b="1" dirty="0"/>
              <a:t>(IEEE 2025)</a:t>
            </a:r>
            <a:endParaRPr lang="en-IN" sz="1800" b="1" dirty="0">
              <a:effectLst/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9E205FC4-0F22-741B-C12A-B4F19F2883DF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9119FE-187A-589E-2E03-D629D5384FC6}"/>
              </a:ext>
            </a:extLst>
          </p:cNvPr>
          <p:cNvSpPr txBox="1"/>
          <p:nvPr/>
        </p:nvSpPr>
        <p:spPr>
          <a:xfrm>
            <a:off x="1068354" y="2096365"/>
            <a:ext cx="5719667" cy="3370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rgbClr val="FF0000"/>
                </a:solidFill>
              </a:rPr>
              <a:t>CONTRIBUTION:</a:t>
            </a:r>
            <a:br>
              <a:rPr lang="en-IN" sz="1600" dirty="0"/>
            </a:br>
            <a:r>
              <a:rPr lang="en-IN" sz="1600" dirty="0"/>
              <a:t>• ML-based DDoS detection.</a:t>
            </a:r>
            <a:br>
              <a:rPr lang="en-IN" sz="1600" dirty="0"/>
            </a:br>
            <a:r>
              <a:rPr lang="en-IN" sz="1600" dirty="0"/>
              <a:t>• Server health monitoring.</a:t>
            </a:r>
            <a:br>
              <a:rPr lang="en-IN" sz="1600" dirty="0"/>
            </a:br>
            <a:r>
              <a:rPr lang="en-IN" sz="1600" dirty="0"/>
              <a:t>• Uses boosting algorithms.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rgbClr val="FF0000"/>
                </a:solidFill>
              </a:rPr>
              <a:t>LIMITATION:</a:t>
            </a:r>
            <a:br>
              <a:rPr lang="en-IN" sz="1600" dirty="0"/>
            </a:br>
            <a:r>
              <a:rPr lang="en-IN" sz="1600" dirty="0"/>
              <a:t>• Detect impact after server degradation.</a:t>
            </a:r>
            <a:br>
              <a:rPr lang="en-IN" sz="1600" dirty="0"/>
            </a:br>
            <a:r>
              <a:rPr lang="en-IN" sz="1600" dirty="0"/>
              <a:t>• No feature optimization technique.</a:t>
            </a:r>
            <a:br>
              <a:rPr lang="en-IN" sz="1600" dirty="0"/>
            </a:br>
            <a:r>
              <a:rPr lang="en-IN" sz="1600" dirty="0"/>
              <a:t>• No explainable AI support.</a:t>
            </a:r>
          </a:p>
        </p:txBody>
      </p:sp>
    </p:spTree>
    <p:extLst>
      <p:ext uri="{BB962C8B-B14F-4D97-AF65-F5344CB8AC3E}">
        <p14:creationId xmlns:p14="http://schemas.microsoft.com/office/powerpoint/2010/main" val="3256589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CDF5C86-F2FD-ED47-A53C-370B8DDC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1164D2-AAA5-7F75-6F33-277BFEE701DB}"/>
              </a:ext>
            </a:extLst>
          </p:cNvPr>
          <p:cNvSpPr txBox="1"/>
          <p:nvPr/>
        </p:nvSpPr>
        <p:spPr>
          <a:xfrm>
            <a:off x="-104089" y="74556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2000" b="1" i="0" dirty="0">
                <a:solidFill>
                  <a:srgbClr val="FF0000"/>
                </a:solidFill>
                <a:effectLst/>
                <a:latin typeface="+mj-lt"/>
                <a:cs typeface="Times New Roman" panose="02020603050405020304" pitchFamily="18" charset="0"/>
              </a:rPr>
              <a:t>RESEARCH GAP</a:t>
            </a:r>
            <a:endParaRPr lang="en-IN" sz="2000" dirty="0">
              <a:solidFill>
                <a:srgbClr val="FF0000"/>
              </a:solidFill>
              <a:effectLst/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27186C-D641-CEE8-C2D4-B16950F86313}"/>
              </a:ext>
            </a:extLst>
          </p:cNvPr>
          <p:cNvSpPr txBox="1"/>
          <p:nvPr/>
        </p:nvSpPr>
        <p:spPr>
          <a:xfrm>
            <a:off x="1042124" y="1145679"/>
            <a:ext cx="8185851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• Existing models focus mainly on classification accuracy.</a:t>
            </a:r>
            <a:br>
              <a:rPr lang="en-IN" dirty="0"/>
            </a:br>
            <a:r>
              <a:rPr lang="en-IN" dirty="0"/>
              <a:t>• Limited explainability in DDoS detection.</a:t>
            </a:r>
            <a:br>
              <a:rPr lang="en-IN" dirty="0"/>
            </a:br>
            <a:r>
              <a:rPr lang="en-IN" dirty="0"/>
              <a:t>• High-dimensional features increase complexity.</a:t>
            </a:r>
            <a:br>
              <a:rPr lang="en-IN" dirty="0"/>
            </a:br>
            <a:r>
              <a:rPr lang="en-IN" dirty="0"/>
              <a:t>• Lack of optimized ML frameworks for HAPS security.</a:t>
            </a:r>
            <a:br>
              <a:rPr lang="en-IN" dirty="0"/>
            </a:br>
            <a:r>
              <a:rPr lang="en-IN" dirty="0"/>
              <a:t>• Need for lightweight and interpretable detection systems.</a:t>
            </a:r>
            <a:br>
              <a:rPr lang="en-IN" dirty="0"/>
            </a:br>
            <a:br>
              <a:rPr lang="en-IN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73D820-A5E1-F5A2-C800-11D62346F5D5}"/>
              </a:ext>
            </a:extLst>
          </p:cNvPr>
          <p:cNvSpPr txBox="1"/>
          <p:nvPr/>
        </p:nvSpPr>
        <p:spPr>
          <a:xfrm>
            <a:off x="686943" y="3129971"/>
            <a:ext cx="7216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2000" b="1" i="0" dirty="0">
                <a:solidFill>
                  <a:srgbClr val="FF0000"/>
                </a:solidFill>
                <a:effectLst/>
                <a:latin typeface="+mj-lt"/>
                <a:cs typeface="Times New Roman" panose="02020603050405020304" pitchFamily="18" charset="0"/>
              </a:rPr>
              <a:t>PROPOSED SOLUTION AND EXPECTED OUTCOMES</a:t>
            </a:r>
            <a:endParaRPr lang="en-IN" sz="2000" dirty="0">
              <a:solidFill>
                <a:srgbClr val="FF0000"/>
              </a:solidFill>
              <a:effectLst/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61DBE54D-438C-1483-47F4-5EE439DAE3CD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B4687-DA0A-15BC-383A-8ABA932749C4}"/>
              </a:ext>
            </a:extLst>
          </p:cNvPr>
          <p:cNvSpPr txBox="1"/>
          <p:nvPr/>
        </p:nvSpPr>
        <p:spPr>
          <a:xfrm>
            <a:off x="1042124" y="3618599"/>
            <a:ext cx="7019524" cy="19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• CIC-DDoS2019 dataset + Adaptive Chaotic Jaya Feature Selection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err="1"/>
              <a:t>XGBoost</a:t>
            </a:r>
            <a:r>
              <a:rPr lang="en-IN" dirty="0"/>
              <a:t> for binary classification (DDoS / Non-DDoS)</a:t>
            </a:r>
            <a:br>
              <a:rPr lang="en-IN" dirty="0"/>
            </a:br>
            <a:r>
              <a:rPr lang="en-IN" dirty="0"/>
              <a:t>• SHAP for explainable predictions</a:t>
            </a:r>
            <a:br>
              <a:rPr lang="en-IN" dirty="0"/>
            </a:br>
            <a:r>
              <a:rPr lang="en-IN" dirty="0"/>
              <a:t>• Lightweight </a:t>
            </a:r>
            <a:r>
              <a:rPr lang="en-IN" dirty="0" err="1"/>
              <a:t>XGBoost</a:t>
            </a:r>
            <a:r>
              <a:rPr lang="en-IN" dirty="0"/>
              <a:t>-based detection for HAPS</a:t>
            </a:r>
            <a:br>
              <a:rPr lang="en-IN" dirty="0"/>
            </a:br>
            <a:r>
              <a:rPr lang="en-IN" dirty="0"/>
              <a:t>• Accurate detection with fewer features, better efficiency</a:t>
            </a:r>
            <a:br>
              <a:rPr lang="en-IN" dirty="0"/>
            </a:br>
            <a:r>
              <a:rPr lang="en-IN" dirty="0"/>
              <a:t>• Explainable decisions, improved cybersecurity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BF809D-6E99-67AA-7408-B9BDDBC8B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088" y="3548741"/>
            <a:ext cx="1714500" cy="1714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FBC53A-E584-5DF7-1D22-D688BA19F443}"/>
              </a:ext>
            </a:extLst>
          </p:cNvPr>
          <p:cNvSpPr txBox="1"/>
          <p:nvPr/>
        </p:nvSpPr>
        <p:spPr>
          <a:xfrm>
            <a:off x="2802396" y="5958542"/>
            <a:ext cx="46653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https://www.kaggle.com/datasets/dhoogla/cicddos2019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31E981-5EB1-11AA-6C40-E1FE929F7BD8}"/>
              </a:ext>
            </a:extLst>
          </p:cNvPr>
          <p:cNvSpPr txBox="1"/>
          <p:nvPr/>
        </p:nvSpPr>
        <p:spPr>
          <a:xfrm>
            <a:off x="1552095" y="5958542"/>
            <a:ext cx="17261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+mj-lt"/>
              </a:rPr>
              <a:t>DATASET:</a:t>
            </a:r>
            <a:endParaRPr lang="en-IN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66778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C733D17-BE26-4C23-A9FB-5030EA50C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8D3694-33C1-FF16-DAD7-ACA0770939EF}"/>
              </a:ext>
            </a:extLst>
          </p:cNvPr>
          <p:cNvSpPr txBox="1"/>
          <p:nvPr/>
        </p:nvSpPr>
        <p:spPr>
          <a:xfrm>
            <a:off x="2789853" y="3004457"/>
            <a:ext cx="45440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THANK YOU!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754633741"/>
      </p:ext>
    </p:extLst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21453</TotalTime>
  <Words>632</Words>
  <Application>Microsoft Office PowerPoint</Application>
  <PresentationFormat>On-screen Show (4:3)</PresentationFormat>
  <Paragraphs>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Noto Sans Symbols</vt:lpstr>
      <vt:lpstr>Times New Roman</vt:lpstr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Bob Hughes</dc:creator>
  <cp:lastModifiedBy>prateekshagk5@outlook.com</cp:lastModifiedBy>
  <cp:revision>216</cp:revision>
  <dcterms:created xsi:type="dcterms:W3CDTF">2005-07-08T09:37:10Z</dcterms:created>
  <dcterms:modified xsi:type="dcterms:W3CDTF">2026-06-25T08:04:01Z</dcterms:modified>
</cp:coreProperties>
</file>